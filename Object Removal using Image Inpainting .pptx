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Lexend SemiBold"/>
      <p:regular r:id="rId18"/>
      <p:bold r:id="rId19"/>
    </p:embeddedFont>
    <p:embeddedFont>
      <p:font typeface="Proxima Nova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anrope"/>
      <p:regular r:id="rId28"/>
      <p:bold r:id="rId29"/>
    </p:embeddedFont>
    <p:embeddedFont>
      <p:font typeface="Lexend ExtraLight"/>
      <p:regular r:id="rId30"/>
      <p:bold r:id="rId31"/>
    </p:embeddedFont>
    <p:embeddedFont>
      <p:font typeface="Alfa Slab One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Nunito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anrope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anrop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exendExtraLight-bold.fntdata"/><Relationship Id="rId30" Type="http://schemas.openxmlformats.org/officeDocument/2006/relationships/font" Target="fonts/LexendExtra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AlfaSlabOn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exendSemiBold-bold.fntdata"/><Relationship Id="rId18" Type="http://schemas.openxmlformats.org/officeDocument/2006/relationships/font" Target="fonts/Lexend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b9903783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b9903783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b99037835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b99037835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9903783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b9903783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99037835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b99037835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b99037835_15_3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cbf66b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bcbf66b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6e2708fc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6e2708fc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6e2708fc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6e2708fc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cbf66bd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bcbf66bd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6e2708fc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6e2708fc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CUSTOM_4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9" name="Google Shape;59;p13"/>
          <p:cNvSpPr/>
          <p:nvPr>
            <p:ph idx="6" type="pic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" name="Google Shape;60;p13"/>
          <p:cNvSpPr/>
          <p:nvPr>
            <p:ph idx="7" type="pic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" name="Google Shape;61;p13"/>
          <p:cNvSpPr/>
          <p:nvPr>
            <p:ph idx="8" type="pic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" name="Google Shape;62;p13"/>
          <p:cNvSpPr/>
          <p:nvPr>
            <p:ph idx="9" type="pic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311700" y="76392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3759"/>
              <a:t>Object Removal using Image Inpainting </a:t>
            </a:r>
            <a:endParaRPr sz="375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759"/>
          </a:p>
        </p:txBody>
      </p:sp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415025" y="4409998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zh-CN" sz="1520"/>
              <a:t>Presenter: Sai Manichandana Devi Thumati</a:t>
            </a:r>
            <a:endParaRPr sz="1520"/>
          </a:p>
        </p:txBody>
      </p:sp>
      <p:sp>
        <p:nvSpPr>
          <p:cNvPr id="81" name="Google Shape;81;p17"/>
          <p:cNvSpPr txBox="1"/>
          <p:nvPr/>
        </p:nvSpPr>
        <p:spPr>
          <a:xfrm>
            <a:off x="2244750" y="2200575"/>
            <a:ext cx="499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 Study of Classical Inpainting Techniques 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Abstract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/>
              <a:t>Key Task</a:t>
            </a:r>
            <a:r>
              <a:rPr lang="zh-CN" sz="1400"/>
              <a:t>: Remove unwanted objects (people, vehicles, signs) from images while preserving natural background 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zh-CN" sz="1400"/>
              <a:t>Approach</a:t>
            </a:r>
            <a:r>
              <a:rPr lang="zh-CN" sz="1400"/>
              <a:t>: Classical image inpainting (diffusion + exemplar-based)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zh-CN" sz="1400"/>
              <a:t>Tools</a:t>
            </a:r>
            <a:r>
              <a:rPr lang="zh-CN" sz="1400"/>
              <a:t>: OpenCV implementation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zh-CN" sz="1400"/>
              <a:t>Results</a:t>
            </a:r>
            <a:r>
              <a:rPr lang="zh-CN" sz="1400"/>
              <a:t>: Effective for small–medium objects in textured/repetitive scenes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zh-CN" sz="1400"/>
              <a:t>Limitations</a:t>
            </a:r>
            <a:r>
              <a:rPr lang="zh-CN" sz="1400"/>
              <a:t>: Artifacts in large/complex masks → need for deep learning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zh-CN" sz="1400"/>
              <a:t>Goal</a:t>
            </a:r>
            <a:r>
              <a:rPr lang="zh-CN" sz="1400"/>
              <a:t>: Explore practical applicability of foundational inpainting methods</a:t>
            </a:r>
            <a:endParaRPr sz="1400"/>
          </a:p>
          <a:p>
            <a:pPr indent="0" lvl="0" marL="0" rtl="0" algn="just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Introduction &amp; Motivation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574450" y="1316800"/>
            <a:ext cx="6946500" cy="3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Digital photos often contain distracting foreground elements 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Tourists in landscapes, signs in streets, people in group shots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Manual editing (healing brush, clone stamp) is time-consuming and skill-dependent 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zh-C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Image Inpainting</a:t>
            </a:r>
            <a:r>
              <a:rPr lang="zh-C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Automatically reconstructs background using surrounding context 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Focus: Evaluate classical methods on real-world perception task 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Applications: Photo restoration, content cleanup, visual enhancement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Key related work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/>
              <a:t>Classical Foundations</a:t>
            </a:r>
            <a:endParaRPr b="1" sz="1400"/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 sz="1400"/>
              <a:t>Bertalmio et al. (2000) [1]: PDE-based diffusion (SIGGRAPH)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 sz="1400"/>
              <a:t>Telea (2004) [2]: Fast Marching Method – efficient propagation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 sz="1400"/>
              <a:t>Criminisi et al. (2004) [3]: Exemplar-based – patch priority for structures/textures</a:t>
            </a:r>
            <a:endParaRPr sz="14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zh-CN" sz="1400"/>
              <a:t>Modern Deep Learning</a:t>
            </a:r>
            <a:endParaRPr b="1" sz="1400"/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 sz="1400"/>
              <a:t>Context Encoders [4], Gated Convolutions [8], DeepFillv2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zh-CN" sz="1400"/>
              <a:t>Recent surveys [11,17]: LaMA, Stable Diffusion achieve SOTA on complex masks</a:t>
            </a:r>
            <a:endParaRPr sz="1400"/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/>
        </p:nvSpPr>
        <p:spPr>
          <a:xfrm>
            <a:off x="283650" y="237625"/>
            <a:ext cx="5394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00">
                <a:solidFill>
                  <a:srgbClr val="FF5722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Methodology – Pipeline</a:t>
            </a:r>
            <a:endParaRPr b="1" sz="2100">
              <a:solidFill>
                <a:srgbClr val="FF5722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441875" y="936775"/>
            <a:ext cx="4130100" cy="3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latin typeface="Proxima Nova"/>
                <a:ea typeface="Proxima Nova"/>
                <a:cs typeface="Proxima Nova"/>
                <a:sym typeface="Proxima Nova"/>
              </a:rPr>
              <a:t>Two-Stage Process</a:t>
            </a:r>
            <a:endParaRPr b="1"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300"/>
              <a:buFont typeface="Proxima Nova"/>
              <a:buAutoNum type="arabicPeriod"/>
            </a:pPr>
            <a:r>
              <a:rPr b="1" lang="zh-CN" sz="1300">
                <a:latin typeface="Proxima Nova"/>
                <a:ea typeface="Proxima Nova"/>
                <a:cs typeface="Proxima Nova"/>
                <a:sym typeface="Proxima Nova"/>
              </a:rPr>
              <a:t>Object Masking</a:t>
            </a:r>
            <a:endParaRPr b="1"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roxima Nova"/>
              <a:buChar char="●"/>
            </a:pP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Manual binary mask (white = object to remove) 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roxima Nova"/>
              <a:buChar char="●"/>
            </a:pP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Created in GIMP/Photoshop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zh-CN" sz="1300">
                <a:latin typeface="Proxima Nova"/>
                <a:ea typeface="Proxima Nova"/>
                <a:cs typeface="Proxima Nova"/>
                <a:sym typeface="Proxima Nova"/>
              </a:rPr>
              <a:t>Image Inpainting</a:t>
            </a: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 (OpenCV) 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roxima Nova"/>
              <a:buChar char="●"/>
            </a:pP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Diffusion-based: INPAINT_TELEA (Fast Marching), INPAINT_NS 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roxima Nova"/>
              <a:buChar char="●"/>
            </a:pP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Exemplar-based: Criminisi-style patch matching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Simple, reproducible, computationally efficient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6" name="Google Shape;106;p21" title="f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75" y="1263800"/>
            <a:ext cx="4242051" cy="241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283475" y="283475"/>
            <a:ext cx="66423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solidFill>
                  <a:srgbClr val="FF5722"/>
                </a:solidFill>
              </a:rPr>
              <a:t>Inpainting Details</a:t>
            </a:r>
            <a:endParaRPr b="1">
              <a:solidFill>
                <a:srgbClr val="FF57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5722"/>
              </a:solidFill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459550" y="1131225"/>
            <a:ext cx="6206400" cy="30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latin typeface="Proxima Nova"/>
                <a:ea typeface="Proxima Nova"/>
                <a:cs typeface="Proxima Nova"/>
                <a:sym typeface="Proxima Nova"/>
              </a:rPr>
              <a:t>Diffusion-based</a:t>
            </a: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 (Telea/NS)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Propagates gradients inward from boundary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Best for small/smooth regions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zh-CN" sz="1600">
                <a:latin typeface="Proxima Nova"/>
                <a:ea typeface="Proxima Nova"/>
                <a:cs typeface="Proxima Nova"/>
                <a:sym typeface="Proxima Nova"/>
              </a:rPr>
              <a:t>Exemplar-based</a:t>
            </a: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 (Criminisi-inspired)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Priority: P(p) = Confidence × Data term (favors edges)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Best patch search via SSD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Copy &amp; update → preserves textures/structures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Strengths complement each other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145525" y="1727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Results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335825" y="819200"/>
            <a:ext cx="8369400" cy="4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 1: Group Photo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8" name="Google Shape;118;p23" title="test1_resul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75" y="1468387"/>
            <a:ext cx="8306699" cy="338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/>
        </p:nvSpPr>
        <p:spPr>
          <a:xfrm>
            <a:off x="145525" y="1727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to be cont..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35825" y="819200"/>
            <a:ext cx="8369400" cy="4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Example 2: </a:t>
            </a:r>
            <a:r>
              <a:rPr b="1" lang="zh-CN" sz="1200">
                <a:latin typeface="Proxima Nova"/>
                <a:ea typeface="Proxima Nova"/>
                <a:cs typeface="Proxima Nova"/>
                <a:sym typeface="Proxima Nova"/>
              </a:rPr>
              <a:t>Urban Scene (Fenway Park)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5" name="Google Shape;125;p24" title="test2_resul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16800"/>
            <a:ext cx="8211301" cy="35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145525" y="1727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to be cont..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335825" y="819200"/>
            <a:ext cx="55713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Example 3: </a:t>
            </a:r>
            <a:r>
              <a:rPr b="1" lang="zh-CN" sz="1200">
                <a:latin typeface="Proxima Nova"/>
                <a:ea typeface="Proxima Nova"/>
                <a:cs typeface="Proxima Nova"/>
                <a:sym typeface="Proxima Nova"/>
              </a:rPr>
              <a:t>Highway Traffic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2" name="Google Shape;132;p25" title="test3_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0" y="1204875"/>
            <a:ext cx="4933374" cy="37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5903525" y="927950"/>
            <a:ext cx="3000000" cy="3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zh-CN" sz="1300">
                <a:latin typeface="Proxima Nova"/>
                <a:ea typeface="Proxima Nova"/>
                <a:cs typeface="Proxima Nova"/>
                <a:sym typeface="Proxima Nova"/>
              </a:rPr>
              <a:t>Overall Performance</a:t>
            </a:r>
            <a:endParaRPr b="1"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Font typeface="Proxima Nova"/>
              <a:buChar char="●"/>
            </a:pP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Strong: Small–medium masks (&lt;15% area), repetitive/structured backgrounds 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roxima Nova"/>
              <a:buChar char="●"/>
            </a:pP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Weak: Large masks (&gt;20–25%) → blurring, minor artifacts 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roxima Nova"/>
              <a:buChar char="●"/>
            </a:pPr>
            <a:r>
              <a:rPr lang="zh-CN" sz="1300">
                <a:latin typeface="Proxima Nova"/>
                <a:ea typeface="Proxima Nova"/>
                <a:cs typeface="Proxima Nova"/>
                <a:sym typeface="Proxima Nova"/>
              </a:rPr>
              <a:t>Qualitative success in real-world enhancement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342225" y="283475"/>
            <a:ext cx="592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Discussion &amp; Limitations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457200" y="1221600"/>
            <a:ext cx="73107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Classical methods: Fast, interpretable, reliable for moderate scenarios </a:t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Limitations: </a:t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Proxima Nova"/>
              <a:buChar char="●"/>
            </a:pPr>
            <a:r>
              <a:rPr lang="zh-C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No semantic understanding </a:t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Proxima Nova"/>
              <a:buChar char="●"/>
            </a:pPr>
            <a:r>
              <a:rPr lang="zh-C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Blurring/over-smoothing in large regions </a:t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Proxima Nova"/>
              <a:buChar char="●"/>
            </a:pPr>
            <a:r>
              <a:rPr lang="zh-C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Dependent on surrounding context</a:t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Modern deep learning (gated conv, diffusion models) far superior for complex cases </a:t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highlights evolution from local propagation to generative inpainting</a:t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342225" y="283475"/>
            <a:ext cx="592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Conclusion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457200" y="1221600"/>
            <a:ext cx="73107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Successfully demonstrated classical inpainting for object removal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Practical for photo cleanup; exposes clear boundaries of non-semantic methods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zh-CN" sz="1600">
                <a:latin typeface="Proxima Nova"/>
                <a:ea typeface="Proxima Nova"/>
                <a:cs typeface="Proxima Nova"/>
                <a:sym typeface="Proxima Nova"/>
              </a:rPr>
              <a:t>Future Work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Automatic masking (Mask R-CNN + user box)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Integrate deep learning (DeepFillv2, LaMA)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Char char="●"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Hybrid approaches, video extension, quantitative benchmarks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zh-CN" sz="1600">
                <a:latin typeface="Proxima Nova"/>
                <a:ea typeface="Proxima Nova"/>
                <a:cs typeface="Proxima Nova"/>
                <a:sym typeface="Proxima Nova"/>
              </a:rPr>
              <a:t>Thank you!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